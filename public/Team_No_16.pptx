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plads.gov.in/?utm_source=chatgpt.com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mplads.gov.in/mplads/En/2010-mplads-guidelines.aspx?utm_source=chatgpt.com" TargetMode="External"/><Relationship Id="rId4" Type="http://schemas.openxmlformats.org/officeDocument/2006/relationships/hyperlink" Target="https://mospi.gov.in/programme-implementation-pi-wing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6372" y="1338710"/>
            <a:ext cx="5924550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SIH26102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of an AI-powered system to detect anomalies, fraud, and inefficiencies in MPLAD Scheme implementation regd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Mindmaze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NIRIKSHAN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1143000"/>
            <a:ext cx="12191999" cy="643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  <a:endParaRPr lang="en-IN" sz="2000" dirty="0"/>
          </a:p>
          <a:p>
            <a:r>
              <a:rPr lang="en-IN" sz="2000" dirty="0"/>
              <a:t>📊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Financial Anomaly Detection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Detect unusual expenditure patterns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Identify budget/cost outliers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Flag abnormal fund utilization</a:t>
            </a:r>
          </a:p>
          <a:p>
            <a:r>
              <a:rPr lang="en-IN" sz="2000" dirty="0"/>
              <a:t>🔍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Duplicate Work Detection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NLP-based project comparison &amp; TF-IDF + Cosine Similarity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Identify potentially duplicated/similar works</a:t>
            </a:r>
          </a:p>
          <a:p>
            <a:r>
              <a:rPr lang="en-IN" sz="2000" dirty="0"/>
              <a:t>💰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Vendor &amp; Payment Risk Analysis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Detect unusual payment patterns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Identify high-risk vendor/work combinations</a:t>
            </a:r>
          </a:p>
          <a:p>
            <a:r>
              <a:rPr lang="en-IN" sz="2000" dirty="0"/>
              <a:t>⏱️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Project Delay Monitoring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Track sanctioned → ongoing → completed works </a:t>
            </a:r>
          </a:p>
          <a:p>
            <a:r>
              <a:rPr lang="en-IN" sz="2000" dirty="0"/>
              <a:t>🚨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Risk-Based Alerts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Composite risk scoring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Prioritized audit queue &amp; explainable risk indicators</a:t>
            </a:r>
          </a:p>
          <a:p>
            <a:pPr lvl="0"/>
            <a:endParaRPr lang="en-IN" sz="2000" dirty="0"/>
          </a:p>
          <a:p>
            <a:pPr lvl="0"/>
            <a:endParaRPr lang="en-IN" sz="2000" dirty="0"/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Mind Maze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446F1F-9194-4A2D-81C8-A187129B9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844" y="1335641"/>
            <a:ext cx="4653092" cy="48083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47579" y="1533465"/>
            <a:ext cx="9385300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dirty="0"/>
              <a:t>⚛️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React, TypeScript, Vite, Tailwind CSS</a:t>
            </a:r>
          </a:p>
          <a:p>
            <a:r>
              <a:rPr lang="en-IN" sz="2000" dirty="0"/>
              <a:t>📊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Visualization &amp; UI</a:t>
            </a: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Recharts 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Lucide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React</a:t>
            </a:r>
          </a:p>
          <a:p>
            <a:r>
              <a:rPr lang="en-IN" sz="2000" dirty="0"/>
              <a:t>⚡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  <a:p>
            <a:pPr lvl="0"/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Uvicorn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REST API</a:t>
            </a:r>
          </a:p>
          <a:p>
            <a:r>
              <a:rPr lang="en-IN" sz="2000" dirty="0"/>
              <a:t>🤖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Machine Learning / AI</a:t>
            </a: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Scikit-learn ,Isolation Forest ,TF-IDF ,Cosine Similarity ,</a:t>
            </a: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SciPy</a:t>
            </a:r>
          </a:p>
          <a:p>
            <a:r>
              <a:rPr lang="en-IN" sz="2000" dirty="0"/>
              <a:t>🐍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Programming &amp; Data</a:t>
            </a: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Python ,Pandas ,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PyArrow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,Parquet</a:t>
            </a:r>
          </a:p>
          <a:p>
            <a:pPr lvl="0"/>
            <a:endParaRPr lang="en-IN" sz="2000" dirty="0"/>
          </a:p>
          <a:p>
            <a:pPr lvl="0"/>
            <a:endParaRPr lang="en-IN" sz="2000" dirty="0"/>
          </a:p>
          <a:p>
            <a:endParaRPr lang="en-IN" dirty="0"/>
          </a:p>
          <a:p>
            <a:endParaRPr lang="en-IN" dirty="0"/>
          </a:p>
          <a:p>
            <a:pPr lvl="0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Mind Maze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7DF736-2120-3375-DE75-090B70713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096" y="1068094"/>
            <a:ext cx="5787840" cy="51501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2064" y="967112"/>
            <a:ext cx="7456462" cy="661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400" dirty="0"/>
              <a:t>⚙️</a:t>
            </a:r>
            <a:r>
              <a:rPr lang="en-IN" sz="2400" b="1" dirty="0"/>
              <a:t>Feasibility of the Idea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Uses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open-source technologies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Python-based ML ecosystem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Automated data 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Minimal manual analysis</a:t>
            </a:r>
            <a:endParaRPr lang="en-IN" sz="2400" b="1" dirty="0"/>
          </a:p>
          <a:p>
            <a:r>
              <a:rPr lang="en-IN" sz="2400" dirty="0"/>
              <a:t>📈</a:t>
            </a:r>
            <a:r>
              <a:rPr lang="en-IN" sz="2400" b="1" dirty="0"/>
              <a:t>Viability of the Project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Cost-Effective: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Built primarily with open-source technologies.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Scalable: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Can expand from the current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79,068+ works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to nationwide.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High Government Utility: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Helps authorities prioritize audits, monitor funds</a:t>
            </a:r>
          </a:p>
          <a:p>
            <a:pPr lvl="0"/>
            <a:r>
              <a:rPr lang="en-IN" sz="2000" dirty="0"/>
              <a:t>⚠️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Potential Challenges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Incomplete, inconsistent, or missing data may affect accuracy. </a:t>
            </a:r>
          </a:p>
          <a:p>
            <a:r>
              <a:rPr lang="en-IN" sz="2000" dirty="0"/>
              <a:t>🛡️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Strategies for Overcoming Challenges</a:t>
            </a:r>
          </a:p>
          <a:p>
            <a:r>
              <a:rPr lang="en-IN" sz="2000" dirty="0"/>
              <a:t>Automated data cleaning &amp; validation, Multi-factor risk scoring .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pPr lvl="0"/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Mind Maze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7E3CD7-DEFE-D40C-2DDA-F81214B00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119" y="1335639"/>
            <a:ext cx="4510355" cy="463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29457" y="1107590"/>
            <a:ext cx="6938479" cy="421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Benefits of the Solution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Social: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Greater transparency, accountability, and trust in public development.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Economic: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Reduces potential fund misuse, detects cost anomalies.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Administrative: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Automates monitoring, reduces manual analysis, and enables faster corrective action.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Environmental: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Helps identify inefficient or unnecessary projects, supporting better allocation of resources.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Technological: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Introduces AI/ML-based risk intelligence into large-scale government monitoring.</a:t>
            </a:r>
          </a:p>
          <a:p>
            <a:pPr lvl="0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Mind Maze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C4F95D-C371-F1C0-1E1C-D7E8DFEB9180}"/>
              </a:ext>
            </a:extLst>
          </p:cNvPr>
          <p:cNvSpPr txBox="1"/>
          <p:nvPr/>
        </p:nvSpPr>
        <p:spPr>
          <a:xfrm>
            <a:off x="7167936" y="1059580"/>
            <a:ext cx="48620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Potential Impact on Target Audience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Faster identification of high-risk works and better audit prioritization.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Real-time insights for informed and timely decisions.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Reduces manual effort by automatically highlighting suspicious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Improves transparency and accountability in the utilization of public funds.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964331-220F-4E4F-1047-6F765253F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4646615"/>
            <a:ext cx="975360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2063" y="1237547"/>
            <a:ext cx="5067483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Research References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MoSPI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MPLADS Official Portal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MPLADS Official Portal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MoSPI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Programme Implementation Wing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MoSPI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 Programme Implementation Wing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MPLADS Monitoring Guidelines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MPLADS Guidelines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Mind Maze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CC3277F-1F10-9522-1069-EB7A7636E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905417"/>
              </p:ext>
            </p:extLst>
          </p:nvPr>
        </p:nvGraphicFramePr>
        <p:xfrm>
          <a:off x="5229546" y="1512552"/>
          <a:ext cx="676966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09327">
                  <a:extLst>
                    <a:ext uri="{9D8B030D-6E8A-4147-A177-3AD203B41FA5}">
                      <a16:colId xmlns:a16="http://schemas.microsoft.com/office/drawing/2014/main" val="2480734192"/>
                    </a:ext>
                  </a:extLst>
                </a:gridCol>
                <a:gridCol w="1489753">
                  <a:extLst>
                    <a:ext uri="{9D8B030D-6E8A-4147-A177-3AD203B41FA5}">
                      <a16:colId xmlns:a16="http://schemas.microsoft.com/office/drawing/2014/main" val="636717105"/>
                    </a:ext>
                  </a:extLst>
                </a:gridCol>
                <a:gridCol w="1109609">
                  <a:extLst>
                    <a:ext uri="{9D8B030D-6E8A-4147-A177-3AD203B41FA5}">
                      <a16:colId xmlns:a16="http://schemas.microsoft.com/office/drawing/2014/main" val="1150369798"/>
                    </a:ext>
                  </a:extLst>
                </a:gridCol>
                <a:gridCol w="1160980">
                  <a:extLst>
                    <a:ext uri="{9D8B030D-6E8A-4147-A177-3AD203B41FA5}">
                      <a16:colId xmlns:a16="http://schemas.microsoft.com/office/drawing/2014/main" val="30997523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NIRIKSHAN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MPLADS Portal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PAIMANA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904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ML-based 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6344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NLP-based Duplicate Work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136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Peer-Group Cost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743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Composite Risk Scoring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926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Risk-Based Audit Prioritization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9131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DEEDA88-2F1D-DB43-C755-8A77C39B8728}"/>
              </a:ext>
            </a:extLst>
          </p:cNvPr>
          <p:cNvSpPr txBox="1"/>
          <p:nvPr/>
        </p:nvSpPr>
        <p:spPr>
          <a:xfrm>
            <a:off x="6851077" y="1115924"/>
            <a:ext cx="43833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NIRIKSHAN AI — Key Differentiators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C7E73B7-2091-A9AD-22D6-A3726FC121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570501"/>
            <a:ext cx="10972799" cy="164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7745</TotalTime>
  <Words>623</Words>
  <Application>Microsoft Office PowerPoint</Application>
  <PresentationFormat>Widescreen</PresentationFormat>
  <Paragraphs>130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NIRIKSHAN AI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thanusri tunuguntla</cp:lastModifiedBy>
  <cp:revision>149</cp:revision>
  <dcterms:created xsi:type="dcterms:W3CDTF">2013-12-12T18:46:50Z</dcterms:created>
  <dcterms:modified xsi:type="dcterms:W3CDTF">2026-09-04T10:26:12Z</dcterms:modified>
  <cp:category/>
</cp:coreProperties>
</file>